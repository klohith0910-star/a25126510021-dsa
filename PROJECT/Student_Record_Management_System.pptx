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08FB837D-C827-4EFA-A057-4D05807E0F7C}" styleName="Themed Style 1 - Accent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50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1638935"/>
            <a:ext cx="10360152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3400" b="1" i="0">
                <a:solidFill>
                  <a:srgbClr val="1B3A6B"/>
                </a:solidFill>
                <a:latin typeface="Calibri"/>
              </a:defRPr>
            </a:pPr>
            <a:r>
              <a:rPr dirty="0"/>
              <a:t>STUDENT RECORD MANAGEMENT SYSTEM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276806"/>
            <a:ext cx="1036015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2000" b="0" i="0">
                <a:solidFill>
                  <a:srgbClr val="333333"/>
                </a:solidFill>
                <a:latin typeface="Calibri"/>
              </a:defRPr>
            </a:pPr>
            <a:r>
              <a:rPr dirty="0"/>
              <a:t>USING SINGLY LINKED LIST</a:t>
            </a:r>
          </a:p>
        </p:txBody>
      </p:sp>
      <p:sp>
        <p:nvSpPr>
          <p:cNvPr id="5" name="Rectangle 4"/>
          <p:cNvSpPr/>
          <p:nvPr/>
        </p:nvSpPr>
        <p:spPr>
          <a:xfrm>
            <a:off x="5143765" y="2777995"/>
            <a:ext cx="1828800" cy="31750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78089" y="2904018"/>
            <a:ext cx="1036015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800" b="1" i="0">
                <a:solidFill>
                  <a:srgbClr val="1B3A6B"/>
                </a:solidFill>
                <a:latin typeface="Calibri"/>
              </a:defRPr>
            </a:pPr>
            <a:r>
              <a:rPr dirty="0"/>
              <a:t>Team Members</a:t>
            </a:r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65238AF0-07DE-BA95-6414-7FE93BB2FCC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73128982"/>
              </p:ext>
            </p:extLst>
          </p:nvPr>
        </p:nvGraphicFramePr>
        <p:xfrm>
          <a:off x="3091500" y="3463317"/>
          <a:ext cx="6005952" cy="148336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995948">
                  <a:extLst>
                    <a:ext uri="{9D8B030D-6E8A-4147-A177-3AD203B41FA5}">
                      <a16:colId xmlns:a16="http://schemas.microsoft.com/office/drawing/2014/main" val="1527747911"/>
                    </a:ext>
                  </a:extLst>
                </a:gridCol>
                <a:gridCol w="4010004">
                  <a:extLst>
                    <a:ext uri="{9D8B030D-6E8A-4147-A177-3AD203B41FA5}">
                      <a16:colId xmlns:a16="http://schemas.microsoft.com/office/drawing/2014/main" val="372540456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IN" dirty="0"/>
                        <a:t>A25126510015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GORLE HARSHA VARDHAN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9994795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dirty="0"/>
                        <a:t>A25126510021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KANDUKURI LOHITH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9639276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dirty="0"/>
                        <a:t>A25126510044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RAYUDU HARSHA VARDHANA GANESH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6322487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dirty="0"/>
                        <a:t>A25126510051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SIRASAPALLI BHAVAN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06113745"/>
                  </a:ext>
                </a:extLst>
              </a:tr>
            </a:tbl>
          </a:graphicData>
        </a:graphic>
      </p:graphicFrame>
      <p:pic>
        <p:nvPicPr>
          <p:cNvPr id="11" name="Picture 10" descr="A silver medal with an ornate star, celebrating the 25th anniversary of the Pravagam Brahma Institute.&#10;&#10;AI-generated content may be incorrect.">
            <a:extLst>
              <a:ext uri="{FF2B5EF4-FFF2-40B4-BE49-F238E27FC236}">
                <a16:creationId xmlns:a16="http://schemas.microsoft.com/office/drawing/2014/main" id="{FAF60D5F-3997-AB25-4BE1-A87E85EF03D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0361" y="543715"/>
            <a:ext cx="1015663" cy="1015663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E8147E4D-C529-910D-3850-AC47935ED789}"/>
              </a:ext>
            </a:extLst>
          </p:cNvPr>
          <p:cNvSpPr txBox="1"/>
          <p:nvPr/>
        </p:nvSpPr>
        <p:spPr>
          <a:xfrm>
            <a:off x="1455173" y="543715"/>
            <a:ext cx="10579511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ANIL NEEERUKONDA INSTITUTE OF TECHNOLOGY &amp; SCIENCES</a:t>
            </a:r>
          </a:p>
          <a:p>
            <a:pPr algn="ctr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Dept. of Computer Science and Engineering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F7F078D-D9C4-B3D9-5840-35CD118E597D}"/>
              </a:ext>
            </a:extLst>
          </p:cNvPr>
          <p:cNvSpPr txBox="1"/>
          <p:nvPr/>
        </p:nvSpPr>
        <p:spPr>
          <a:xfrm>
            <a:off x="770360" y="5466050"/>
            <a:ext cx="1126432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Guidance by: Dr. </a:t>
            </a:r>
            <a:r>
              <a:rPr lang="en-IN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Bhagavathula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Meena, Associate Professor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Dept. of Computer Science and Engineering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1B3A6B"/>
                </a:solidFill>
                <a:latin typeface="Calibri"/>
              </a:defRPr>
            </a:pPr>
            <a:r>
              <a:t>PROBLEM STATEMENT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78992"/>
            <a:ext cx="1920240" cy="31750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48640" y="1237486"/>
            <a:ext cx="11064240" cy="270843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500" b="0" i="0">
                <a:solidFill>
                  <a:srgbClr val="333333"/>
                </a:solidFill>
                <a:latin typeface="Calibri"/>
              </a:defRPr>
            </a:pPr>
            <a:r>
              <a:rPr dirty="0">
                <a:latin typeface="Aptos" panose="020B0004020202020204" pitchFamily="34" charset="0"/>
              </a:rPr>
              <a:t>Managing student records manually can be time-consuming and difficult, especially when the number of students increases.</a:t>
            </a:r>
          </a:p>
          <a:p>
            <a:pPr algn="l">
              <a:spcAft>
                <a:spcPts val="400"/>
              </a:spcAft>
              <a:defRPr sz="1500" b="0" i="0">
                <a:solidFill>
                  <a:srgbClr val="333333"/>
                </a:solidFill>
                <a:latin typeface="Calibri"/>
              </a:defRPr>
            </a:pPr>
            <a:endParaRPr lang="en-IN" dirty="0">
              <a:latin typeface="Aptos" panose="020B0004020202020204" pitchFamily="34" charset="0"/>
            </a:endParaRPr>
          </a:p>
          <a:p>
            <a:pPr algn="l">
              <a:spcAft>
                <a:spcPts val="400"/>
              </a:spcAft>
              <a:defRPr sz="1500" b="0" i="0">
                <a:solidFill>
                  <a:srgbClr val="333333"/>
                </a:solidFill>
                <a:latin typeface="Calibri"/>
              </a:defRPr>
            </a:pPr>
            <a:r>
              <a:rPr dirty="0">
                <a:latin typeface="Aptos" panose="020B0004020202020204" pitchFamily="34" charset="0"/>
              </a:rPr>
              <a:t>A system is required to efficiently store, manage, search, update, and delete student information without using a fixed-size data structure.</a:t>
            </a:r>
          </a:p>
          <a:p>
            <a:pPr algn="l">
              <a:spcAft>
                <a:spcPts val="400"/>
              </a:spcAft>
              <a:defRPr sz="1500" b="0" i="0">
                <a:solidFill>
                  <a:srgbClr val="333333"/>
                </a:solidFill>
                <a:latin typeface="Calibri"/>
              </a:defRPr>
            </a:pPr>
            <a:endParaRPr dirty="0">
              <a:latin typeface="Aptos" panose="020B0004020202020204" pitchFamily="34" charset="0"/>
            </a:endParaRPr>
          </a:p>
          <a:p>
            <a:pPr algn="l">
              <a:spcAft>
                <a:spcPts val="400"/>
              </a:spcAft>
              <a:defRPr sz="1500" b="0" i="0">
                <a:solidFill>
                  <a:srgbClr val="333333"/>
                </a:solidFill>
                <a:latin typeface="Calibri"/>
              </a:defRPr>
            </a:pPr>
            <a:r>
              <a:rPr dirty="0">
                <a:latin typeface="Aptos" panose="020B0004020202020204" pitchFamily="34" charset="0"/>
              </a:rPr>
              <a:t>The Student Record Management System aims to develop a menu-driven application using a singly linked list in C. Each student record contains details such as Roll Number, Name, and Marks.</a:t>
            </a:r>
          </a:p>
          <a:p>
            <a:pPr algn="l">
              <a:spcAft>
                <a:spcPts val="400"/>
              </a:spcAft>
              <a:defRPr sz="1500" b="0" i="0">
                <a:solidFill>
                  <a:srgbClr val="333333"/>
                </a:solidFill>
                <a:latin typeface="Calibri"/>
              </a:defRPr>
            </a:pPr>
            <a:endParaRPr dirty="0">
              <a:latin typeface="Aptos" panose="020B0004020202020204" pitchFamily="34" charset="0"/>
            </a:endParaRPr>
          </a:p>
          <a:p>
            <a:pPr algn="l">
              <a:spcAft>
                <a:spcPts val="400"/>
              </a:spcAft>
              <a:defRPr sz="1500" b="0" i="0">
                <a:solidFill>
                  <a:srgbClr val="333333"/>
                </a:solidFill>
                <a:latin typeface="Calibri"/>
              </a:defRPr>
            </a:pPr>
            <a:r>
              <a:rPr dirty="0">
                <a:latin typeface="Aptos" panose="020B0004020202020204" pitchFamily="34" charset="0"/>
              </a:rPr>
              <a:t>The linked list allows student records to be dynamically added or removed during program execution without requiring a fixed amount of memory in advance.</a:t>
            </a:r>
          </a:p>
        </p:txBody>
      </p:sp>
      <p:sp>
        <p:nvSpPr>
          <p:cNvPr id="6" name="Rectangle 5"/>
          <p:cNvSpPr/>
          <p:nvPr/>
        </p:nvSpPr>
        <p:spPr>
          <a:xfrm>
            <a:off x="1188720" y="3931920"/>
            <a:ext cx="4114800" cy="640080"/>
          </a:xfrm>
          <a:prstGeom prst="rect">
            <a:avLst/>
          </a:prstGeom>
          <a:solidFill>
            <a:srgbClr val="1B3A6B"/>
          </a:solidFill>
          <a:ln w="15875">
            <a:solidFill>
              <a:srgbClr val="1B3A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38100" rIns="50800" bIns="38100" rtlCol="0" anchor="ctr"/>
          <a:lstStyle/>
          <a:p>
            <a:pPr algn="ctr">
              <a:defRPr sz="1500" b="1">
                <a:solidFill>
                  <a:srgbClr val="FFFFFF"/>
                </a:solidFill>
                <a:latin typeface="Calibri"/>
              </a:defRPr>
            </a:pPr>
            <a:r>
              <a:t>MANUAL / FIXED STORAGE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3246120" y="4572000"/>
            <a:ext cx="0" cy="274320"/>
          </a:xfrm>
          <a:prstGeom prst="line">
            <a:avLst/>
          </a:prstGeom>
          <a:ln w="19050">
            <a:solidFill>
              <a:srgbClr val="1B3A6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ctangle 7"/>
          <p:cNvSpPr/>
          <p:nvPr/>
        </p:nvSpPr>
        <p:spPr>
          <a:xfrm>
            <a:off x="1188720" y="4846320"/>
            <a:ext cx="4114800" cy="822960"/>
          </a:xfrm>
          <a:prstGeom prst="rect">
            <a:avLst/>
          </a:prstGeom>
          <a:solidFill>
            <a:srgbClr val="E8EFF7"/>
          </a:solidFill>
          <a:ln w="15875">
            <a:solidFill>
              <a:srgbClr val="1B3A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38100" rIns="50800" bIns="38100" rtlCol="0" anchor="ctr"/>
          <a:lstStyle/>
          <a:p>
            <a:pPr algn="ctr">
              <a:defRPr sz="1400" b="0">
                <a:solidFill>
                  <a:srgbClr val="333333"/>
                </a:solidFill>
                <a:latin typeface="Calibri"/>
              </a:defRPr>
            </a:pPr>
            <a:r>
              <a:t>Difficult to manage as</a:t>
            </a:r>
          </a:p>
          <a:p>
            <a:pPr algn="ctr">
              <a:defRPr sz="1400" b="0">
                <a:solidFill>
                  <a:srgbClr val="333333"/>
                </a:solidFill>
                <a:latin typeface="Calibri"/>
              </a:defRPr>
            </a:pPr>
            <a:r>
              <a:t>records increase</a:t>
            </a:r>
          </a:p>
        </p:txBody>
      </p:sp>
      <p:sp>
        <p:nvSpPr>
          <p:cNvPr id="9" name="Rectangle 8"/>
          <p:cNvSpPr/>
          <p:nvPr/>
        </p:nvSpPr>
        <p:spPr>
          <a:xfrm>
            <a:off x="6675120" y="3931920"/>
            <a:ext cx="4114800" cy="640080"/>
          </a:xfrm>
          <a:prstGeom prst="rect">
            <a:avLst/>
          </a:prstGeom>
          <a:solidFill>
            <a:srgbClr val="1B3A6B"/>
          </a:solidFill>
          <a:ln w="15875">
            <a:solidFill>
              <a:srgbClr val="1B3A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38100" rIns="50800" bIns="38100" rtlCol="0" anchor="ctr"/>
          <a:lstStyle/>
          <a:p>
            <a:pPr algn="ctr">
              <a:defRPr sz="1500" b="1">
                <a:solidFill>
                  <a:srgbClr val="FFFFFF"/>
                </a:solidFill>
                <a:latin typeface="Calibri"/>
              </a:defRPr>
            </a:pPr>
            <a:r>
              <a:t>SINGLY LINKED LIST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8732520" y="4572000"/>
            <a:ext cx="0" cy="274320"/>
          </a:xfrm>
          <a:prstGeom prst="line">
            <a:avLst/>
          </a:prstGeom>
          <a:ln w="19050">
            <a:solidFill>
              <a:srgbClr val="1B3A6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ectangle 10"/>
          <p:cNvSpPr/>
          <p:nvPr/>
        </p:nvSpPr>
        <p:spPr>
          <a:xfrm>
            <a:off x="6675120" y="4846320"/>
            <a:ext cx="4114800" cy="822960"/>
          </a:xfrm>
          <a:prstGeom prst="rect">
            <a:avLst/>
          </a:prstGeom>
          <a:solidFill>
            <a:srgbClr val="E8EFF7"/>
          </a:solidFill>
          <a:ln w="15875">
            <a:solidFill>
              <a:srgbClr val="1B3A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38100" rIns="50800" bIns="38100" rtlCol="0" anchor="ctr"/>
          <a:lstStyle/>
          <a:p>
            <a:pPr algn="ctr">
              <a:defRPr sz="1400" b="0">
                <a:solidFill>
                  <a:srgbClr val="333333"/>
                </a:solidFill>
                <a:latin typeface="Calibri"/>
              </a:defRPr>
            </a:pPr>
            <a:r>
              <a:t>Dynamic addition/removal</a:t>
            </a:r>
          </a:p>
          <a:p>
            <a:pPr algn="ctr">
              <a:defRPr sz="1400" b="0">
                <a:solidFill>
                  <a:srgbClr val="333333"/>
                </a:solidFill>
                <a:latin typeface="Calibri"/>
              </a:defRPr>
            </a:pPr>
            <a:r>
              <a:t>of records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6510528"/>
            <a:ext cx="6400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09090"/>
                </a:solidFill>
                <a:latin typeface="Calibri"/>
              </a:defRPr>
            </a:pPr>
            <a:r>
              <a:t>Student Record Management System — DSA Project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247120" y="6510528"/>
            <a:ext cx="548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09090"/>
                </a:solidFill>
                <a:latin typeface="Calibri"/>
              </a:defRPr>
            </a:pPr>
            <a: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1B3A6B"/>
                </a:solidFill>
                <a:latin typeface="Calibri"/>
              </a:defRPr>
            </a:pPr>
            <a:r>
              <a:t>OBJECTIVES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78992"/>
            <a:ext cx="1920240" cy="31750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1463040"/>
            <a:ext cx="106984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0"/>
              </a:spcAft>
              <a:defRPr sz="2100">
                <a:solidFill>
                  <a:srgbClr val="333333"/>
                </a:solidFill>
                <a:latin typeface="Calibri"/>
              </a:defRPr>
            </a:pPr>
            <a:r>
              <a:rPr dirty="0"/>
              <a:t>•  Develop a Student Record Management System using a singly linked list in C.</a:t>
            </a:r>
          </a:p>
          <a:p>
            <a:pPr>
              <a:spcAft>
                <a:spcPts val="2000"/>
              </a:spcAft>
              <a:defRPr sz="2100">
                <a:solidFill>
                  <a:srgbClr val="333333"/>
                </a:solidFill>
                <a:latin typeface="Calibri"/>
              </a:defRPr>
            </a:pPr>
            <a:r>
              <a:rPr dirty="0"/>
              <a:t>•  Store student details dynamically using structures and dynamic memory allocation.</a:t>
            </a:r>
          </a:p>
          <a:p>
            <a:pPr>
              <a:spcAft>
                <a:spcPts val="2000"/>
              </a:spcAft>
              <a:defRPr sz="2100">
                <a:solidFill>
                  <a:srgbClr val="333333"/>
                </a:solidFill>
                <a:latin typeface="Calibri"/>
              </a:defRPr>
            </a:pPr>
            <a:r>
              <a:rPr dirty="0"/>
              <a:t>•  Add new student records dynamically.</a:t>
            </a:r>
          </a:p>
          <a:p>
            <a:pPr>
              <a:spcAft>
                <a:spcPts val="2000"/>
              </a:spcAft>
              <a:defRPr sz="2100">
                <a:solidFill>
                  <a:srgbClr val="333333"/>
                </a:solidFill>
                <a:latin typeface="Calibri"/>
              </a:defRPr>
            </a:pPr>
            <a:r>
              <a:rPr dirty="0"/>
              <a:t>•  Search and update student records using the roll number.</a:t>
            </a:r>
          </a:p>
          <a:p>
            <a:pPr>
              <a:spcAft>
                <a:spcPts val="2000"/>
              </a:spcAft>
              <a:defRPr sz="2100">
                <a:solidFill>
                  <a:srgbClr val="333333"/>
                </a:solidFill>
                <a:latin typeface="Calibri"/>
              </a:defRPr>
            </a:pPr>
            <a:r>
              <a:rPr dirty="0"/>
              <a:t>•  Delete and display student records easily.</a:t>
            </a:r>
          </a:p>
          <a:p>
            <a:pPr>
              <a:spcAft>
                <a:spcPts val="2000"/>
              </a:spcAft>
              <a:defRPr sz="2100">
                <a:solidFill>
                  <a:srgbClr val="333333"/>
                </a:solidFill>
                <a:latin typeface="Calibri"/>
              </a:defRPr>
            </a:pPr>
            <a:r>
              <a:rPr dirty="0"/>
              <a:t>•  Demonstrate structures, pointers, insertion, deletion, searching, and traversal.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510528"/>
            <a:ext cx="6400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09090"/>
                </a:solidFill>
                <a:latin typeface="Calibri"/>
              </a:defRPr>
            </a:pPr>
            <a:r>
              <a:t>Student Record Management System — DSA Project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47120" y="6510528"/>
            <a:ext cx="548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09090"/>
                </a:solidFill>
                <a:latin typeface="Calibri"/>
              </a:defRPr>
            </a:pPr>
            <a: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1B3A6B"/>
                </a:solidFill>
                <a:latin typeface="Calibri"/>
              </a:defRPr>
            </a:pPr>
            <a:r>
              <a:t>FEATURES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78992"/>
            <a:ext cx="1920240" cy="31750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548640" y="1463040"/>
            <a:ext cx="3611880" cy="1371600"/>
          </a:xfrm>
          <a:prstGeom prst="rect">
            <a:avLst/>
          </a:prstGeom>
          <a:solidFill>
            <a:srgbClr val="E8EFF7"/>
          </a:solidFill>
          <a:ln w="15875">
            <a:solidFill>
              <a:srgbClr val="1B3A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1600" tIns="76200" rIns="101600" bIns="76200" rtlCol="0" anchor="ctr"/>
          <a:lstStyle/>
          <a:p>
            <a:pPr algn="l">
              <a:defRPr sz="1500" b="1">
                <a:solidFill>
                  <a:srgbClr val="1B3A6B"/>
                </a:solidFill>
                <a:latin typeface="Calibri"/>
              </a:defRPr>
            </a:pPr>
            <a:r>
              <a:rPr sz="2000" dirty="0"/>
              <a:t>1. ADD STUDENT</a:t>
            </a:r>
          </a:p>
          <a:p>
            <a:pPr algn="l">
              <a:spcBef>
                <a:spcPts val="500"/>
              </a:spcBef>
              <a:defRPr sz="1300">
                <a:solidFill>
                  <a:srgbClr val="333333"/>
                </a:solidFill>
                <a:latin typeface="Calibri"/>
              </a:defRPr>
            </a:pPr>
            <a:r>
              <a:rPr sz="1600" dirty="0"/>
              <a:t>Add a new student record with Roll Number, Name, and Marks.</a:t>
            </a:r>
          </a:p>
        </p:txBody>
      </p:sp>
      <p:sp>
        <p:nvSpPr>
          <p:cNvPr id="6" name="Rectangle 5"/>
          <p:cNvSpPr/>
          <p:nvPr/>
        </p:nvSpPr>
        <p:spPr>
          <a:xfrm>
            <a:off x="4343400" y="1463040"/>
            <a:ext cx="3611880" cy="1371600"/>
          </a:xfrm>
          <a:prstGeom prst="rect">
            <a:avLst/>
          </a:prstGeom>
          <a:solidFill>
            <a:srgbClr val="E8EFF7"/>
          </a:solidFill>
          <a:ln w="15875">
            <a:solidFill>
              <a:srgbClr val="1B3A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1600" tIns="76200" rIns="101600" bIns="76200" rtlCol="0" anchor="ctr"/>
          <a:lstStyle/>
          <a:p>
            <a:pPr algn="l">
              <a:defRPr sz="1500" b="1">
                <a:solidFill>
                  <a:srgbClr val="1B3A6B"/>
                </a:solidFill>
                <a:latin typeface="Calibri"/>
              </a:defRPr>
            </a:pPr>
            <a:r>
              <a:rPr sz="2000" dirty="0"/>
              <a:t>2. DISPLAY RECORDS</a:t>
            </a:r>
          </a:p>
          <a:p>
            <a:pPr algn="l">
              <a:spcBef>
                <a:spcPts val="500"/>
              </a:spcBef>
              <a:defRPr sz="1300">
                <a:solidFill>
                  <a:srgbClr val="333333"/>
                </a:solidFill>
                <a:latin typeface="Calibri"/>
              </a:defRPr>
            </a:pPr>
            <a:r>
              <a:rPr sz="1600" dirty="0"/>
              <a:t>Display all student records stored in the linked list.</a:t>
            </a:r>
          </a:p>
        </p:txBody>
      </p:sp>
      <p:sp>
        <p:nvSpPr>
          <p:cNvPr id="7" name="Rectangle 6"/>
          <p:cNvSpPr/>
          <p:nvPr/>
        </p:nvSpPr>
        <p:spPr>
          <a:xfrm>
            <a:off x="8138160" y="1463040"/>
            <a:ext cx="3611880" cy="1371600"/>
          </a:xfrm>
          <a:prstGeom prst="rect">
            <a:avLst/>
          </a:prstGeom>
          <a:solidFill>
            <a:srgbClr val="E8EFF7"/>
          </a:solidFill>
          <a:ln w="15875">
            <a:solidFill>
              <a:srgbClr val="1B3A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1600" tIns="76200" rIns="101600" bIns="76200" rtlCol="0" anchor="ctr"/>
          <a:lstStyle/>
          <a:p>
            <a:pPr algn="l">
              <a:defRPr sz="1500" b="1">
                <a:solidFill>
                  <a:srgbClr val="1B3A6B"/>
                </a:solidFill>
                <a:latin typeface="Calibri"/>
              </a:defRPr>
            </a:pPr>
            <a:r>
              <a:rPr sz="2000" dirty="0"/>
              <a:t>3. SEARCH STUDENT</a:t>
            </a:r>
          </a:p>
          <a:p>
            <a:pPr algn="l">
              <a:spcBef>
                <a:spcPts val="500"/>
              </a:spcBef>
              <a:defRPr sz="1300">
                <a:solidFill>
                  <a:srgbClr val="333333"/>
                </a:solidFill>
                <a:latin typeface="Calibri"/>
              </a:defRPr>
            </a:pPr>
            <a:r>
              <a:rPr sz="1600" dirty="0"/>
              <a:t>Find a student using the Roll Number.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3063240"/>
            <a:ext cx="3611880" cy="1371600"/>
          </a:xfrm>
          <a:prstGeom prst="rect">
            <a:avLst/>
          </a:prstGeom>
          <a:solidFill>
            <a:srgbClr val="E8EFF7"/>
          </a:solidFill>
          <a:ln w="15875">
            <a:solidFill>
              <a:srgbClr val="1B3A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1600" tIns="76200" rIns="101600" bIns="76200" rtlCol="0" anchor="ctr"/>
          <a:lstStyle/>
          <a:p>
            <a:pPr algn="l">
              <a:defRPr sz="1500" b="1">
                <a:solidFill>
                  <a:srgbClr val="1B3A6B"/>
                </a:solidFill>
                <a:latin typeface="Calibri"/>
              </a:defRPr>
            </a:pPr>
            <a:r>
              <a:rPr sz="2000" dirty="0"/>
              <a:t>4. UPDATE STUDENT</a:t>
            </a:r>
          </a:p>
          <a:p>
            <a:pPr algn="l">
              <a:spcBef>
                <a:spcPts val="500"/>
              </a:spcBef>
              <a:defRPr sz="1300">
                <a:solidFill>
                  <a:srgbClr val="333333"/>
                </a:solidFill>
                <a:latin typeface="Calibri"/>
              </a:defRPr>
            </a:pPr>
            <a:r>
              <a:rPr sz="1600" dirty="0"/>
              <a:t>Modify the Name or Marks of an existing student.</a:t>
            </a:r>
          </a:p>
        </p:txBody>
      </p:sp>
      <p:sp>
        <p:nvSpPr>
          <p:cNvPr id="9" name="Rectangle 8"/>
          <p:cNvSpPr/>
          <p:nvPr/>
        </p:nvSpPr>
        <p:spPr>
          <a:xfrm>
            <a:off x="4343400" y="3063240"/>
            <a:ext cx="3611880" cy="1371600"/>
          </a:xfrm>
          <a:prstGeom prst="rect">
            <a:avLst/>
          </a:prstGeom>
          <a:solidFill>
            <a:srgbClr val="E8EFF7"/>
          </a:solidFill>
          <a:ln w="15875">
            <a:solidFill>
              <a:srgbClr val="1B3A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1600" tIns="76200" rIns="101600" bIns="76200" rtlCol="0" anchor="ctr"/>
          <a:lstStyle/>
          <a:p>
            <a:pPr algn="l">
              <a:defRPr sz="1500" b="1">
                <a:solidFill>
                  <a:srgbClr val="1B3A6B"/>
                </a:solidFill>
                <a:latin typeface="Calibri"/>
              </a:defRPr>
            </a:pPr>
            <a:r>
              <a:rPr sz="2000" dirty="0"/>
              <a:t>5. DELETE STUDENT</a:t>
            </a:r>
          </a:p>
          <a:p>
            <a:pPr algn="l">
              <a:spcBef>
                <a:spcPts val="500"/>
              </a:spcBef>
              <a:defRPr sz="1300">
                <a:solidFill>
                  <a:srgbClr val="333333"/>
                </a:solidFill>
                <a:latin typeface="Calibri"/>
              </a:defRPr>
            </a:pPr>
            <a:r>
              <a:rPr sz="1600" dirty="0"/>
              <a:t>Remove a student record from the system.</a:t>
            </a:r>
          </a:p>
        </p:txBody>
      </p:sp>
      <p:sp>
        <p:nvSpPr>
          <p:cNvPr id="10" name="Rectangle 9"/>
          <p:cNvSpPr/>
          <p:nvPr/>
        </p:nvSpPr>
        <p:spPr>
          <a:xfrm>
            <a:off x="8138160" y="3063240"/>
            <a:ext cx="3611880" cy="1371600"/>
          </a:xfrm>
          <a:prstGeom prst="rect">
            <a:avLst/>
          </a:prstGeom>
          <a:solidFill>
            <a:srgbClr val="E8EFF7"/>
          </a:solidFill>
          <a:ln w="15875">
            <a:solidFill>
              <a:srgbClr val="1B3A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1600" tIns="76200" rIns="101600" bIns="76200" rtlCol="0" anchor="ctr"/>
          <a:lstStyle/>
          <a:p>
            <a:pPr algn="l">
              <a:defRPr sz="1500" b="1">
                <a:solidFill>
                  <a:srgbClr val="1B3A6B"/>
                </a:solidFill>
                <a:latin typeface="Calibri"/>
              </a:defRPr>
            </a:pPr>
            <a:r>
              <a:rPr sz="2000" dirty="0"/>
              <a:t>6. DUPLICATE ROLL NUMBER HANDLING</a:t>
            </a:r>
          </a:p>
          <a:p>
            <a:pPr algn="l">
              <a:spcBef>
                <a:spcPts val="500"/>
              </a:spcBef>
              <a:defRPr sz="1300">
                <a:solidFill>
                  <a:srgbClr val="333333"/>
                </a:solidFill>
                <a:latin typeface="Calibri"/>
              </a:defRPr>
            </a:pPr>
            <a:r>
              <a:rPr sz="1600" dirty="0"/>
              <a:t>Prevent multiple records from being created with the same Roll Number.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4846320"/>
            <a:ext cx="1106424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spcAft>
                <a:spcPts val="0"/>
              </a:spcAft>
              <a:buFont typeface="Arial" panose="020B0604020202020204" pitchFamily="34" charset="0"/>
              <a:buChar char="•"/>
              <a:defRPr sz="1800" b="1" i="0">
                <a:solidFill>
                  <a:srgbClr val="1B3A6B"/>
                </a:solidFill>
                <a:latin typeface="Calibri"/>
              </a:defRPr>
            </a:pPr>
            <a:r>
              <a:rPr dirty="0"/>
              <a:t>Dynamic Memory Allocation</a:t>
            </a:r>
            <a:endParaRPr lang="en-IN" dirty="0"/>
          </a:p>
          <a:p>
            <a:pPr marL="285750" indent="-285750">
              <a:spcAft>
                <a:spcPts val="0"/>
              </a:spcAft>
              <a:buFont typeface="Arial" panose="020B0604020202020204" pitchFamily="34" charset="0"/>
              <a:buChar char="•"/>
              <a:defRPr sz="1800" b="1" i="0">
                <a:solidFill>
                  <a:srgbClr val="1B3A6B"/>
                </a:solidFill>
                <a:latin typeface="Calibri"/>
              </a:defRPr>
            </a:pPr>
            <a:r>
              <a:rPr dirty="0"/>
              <a:t>Linked List Implementation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6510528"/>
            <a:ext cx="6400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09090"/>
                </a:solidFill>
                <a:latin typeface="Calibri"/>
              </a:defRPr>
            </a:pPr>
            <a:r>
              <a:t>Student Record Management System — DSA Project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247120" y="6510528"/>
            <a:ext cx="548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09090"/>
                </a:solidFill>
                <a:latin typeface="Calibri"/>
              </a:defRPr>
            </a:pPr>
            <a: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1B3A6B"/>
                </a:solidFill>
                <a:latin typeface="Calibri"/>
              </a:defRPr>
            </a:pPr>
            <a:r>
              <a:t>SINGLY LINKED LIST STRUCTURE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78992"/>
            <a:ext cx="1920240" cy="31750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600" b="1" i="0">
                <a:solidFill>
                  <a:srgbClr val="1B3A6B"/>
                </a:solidFill>
                <a:latin typeface="Calibri"/>
              </a:defRPr>
            </a:pPr>
            <a:r>
              <a:t>Generic Node Structure:</a:t>
            </a:r>
          </a:p>
        </p:txBody>
      </p:sp>
      <p:sp>
        <p:nvSpPr>
          <p:cNvPr id="6" name="Rectangle 5"/>
          <p:cNvSpPr/>
          <p:nvPr/>
        </p:nvSpPr>
        <p:spPr>
          <a:xfrm>
            <a:off x="4087368" y="1783080"/>
            <a:ext cx="100584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1B3A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700" rIns="12700" rtlCol="0" anchor="ctr"/>
          <a:lstStyle/>
          <a:p>
            <a:pPr algn="ctr">
              <a:defRPr sz="1200">
                <a:solidFill>
                  <a:srgbClr val="333333"/>
                </a:solidFill>
                <a:latin typeface="Calibri"/>
              </a:defRPr>
            </a:pPr>
            <a:r>
              <a:rPr dirty="0"/>
              <a:t>Roll No</a:t>
            </a:r>
          </a:p>
        </p:txBody>
      </p:sp>
      <p:sp>
        <p:nvSpPr>
          <p:cNvPr id="7" name="Rectangle 6"/>
          <p:cNvSpPr/>
          <p:nvPr/>
        </p:nvSpPr>
        <p:spPr>
          <a:xfrm>
            <a:off x="5093208" y="1783080"/>
            <a:ext cx="100584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1B3A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700" rIns="12700" rtlCol="0" anchor="ctr"/>
          <a:lstStyle/>
          <a:p>
            <a:pPr algn="ctr">
              <a:defRPr sz="1200">
                <a:solidFill>
                  <a:srgbClr val="333333"/>
                </a:solidFill>
                <a:latin typeface="Calibri"/>
              </a:defRPr>
            </a:pPr>
            <a:r>
              <a:t>Name</a:t>
            </a:r>
          </a:p>
        </p:txBody>
      </p:sp>
      <p:sp>
        <p:nvSpPr>
          <p:cNvPr id="8" name="Rectangle 7"/>
          <p:cNvSpPr/>
          <p:nvPr/>
        </p:nvSpPr>
        <p:spPr>
          <a:xfrm>
            <a:off x="6099048" y="1783080"/>
            <a:ext cx="100584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1B3A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700" rIns="12700" rtlCol="0" anchor="ctr"/>
          <a:lstStyle/>
          <a:p>
            <a:pPr algn="ctr">
              <a:defRPr sz="1200">
                <a:solidFill>
                  <a:srgbClr val="333333"/>
                </a:solidFill>
                <a:latin typeface="Calibri"/>
              </a:defRPr>
            </a:pPr>
            <a:r>
              <a:t>Marks</a:t>
            </a:r>
          </a:p>
        </p:txBody>
      </p:sp>
      <p:sp>
        <p:nvSpPr>
          <p:cNvPr id="9" name="Rectangle 8"/>
          <p:cNvSpPr/>
          <p:nvPr/>
        </p:nvSpPr>
        <p:spPr>
          <a:xfrm>
            <a:off x="7104888" y="1783080"/>
            <a:ext cx="100584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1B3A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700" rIns="12700" rtlCol="0" anchor="ctr"/>
          <a:lstStyle/>
          <a:p>
            <a:pPr algn="ctr">
              <a:defRPr sz="1200">
                <a:solidFill>
                  <a:srgbClr val="333333"/>
                </a:solidFill>
                <a:latin typeface="Calibri"/>
              </a:defRPr>
            </a:pPr>
            <a:r>
              <a:t>Next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42316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600" b="1" i="0">
                <a:solidFill>
                  <a:srgbClr val="1B3A6B"/>
                </a:solidFill>
                <a:latin typeface="Calibri"/>
              </a:defRPr>
            </a:pPr>
            <a:r>
              <a:t>Example — Linked List with 3 Student Records: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88720" y="2743200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400" b="1" i="0">
                <a:solidFill>
                  <a:srgbClr val="1B3A6B"/>
                </a:solidFill>
                <a:latin typeface="Calibri"/>
              </a:defRPr>
            </a:pPr>
            <a:r>
              <a:t>HEAD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057400" y="3063240"/>
            <a:ext cx="0" cy="274320"/>
          </a:xfrm>
          <a:prstGeom prst="line">
            <a:avLst/>
          </a:prstGeom>
          <a:ln w="19050">
            <a:solidFill>
              <a:srgbClr val="1B3A6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ectangle 12"/>
          <p:cNvSpPr/>
          <p:nvPr/>
        </p:nvSpPr>
        <p:spPr>
          <a:xfrm>
            <a:off x="548640" y="3337560"/>
            <a:ext cx="754380" cy="640080"/>
          </a:xfrm>
          <a:prstGeom prst="rect">
            <a:avLst/>
          </a:prstGeom>
          <a:solidFill>
            <a:srgbClr val="E8EFF7"/>
          </a:solidFill>
          <a:ln w="12700">
            <a:solidFill>
              <a:srgbClr val="1B3A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700" rIns="12700" rtlCol="0" anchor="ctr"/>
          <a:lstStyle/>
          <a:p>
            <a:pPr algn="ctr">
              <a:defRPr sz="1000">
                <a:solidFill>
                  <a:srgbClr val="333333"/>
                </a:solidFill>
                <a:latin typeface="Calibri"/>
              </a:defRPr>
            </a:pPr>
            <a:r>
              <a:t>101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303019" y="3337560"/>
            <a:ext cx="754380" cy="640080"/>
          </a:xfrm>
          <a:prstGeom prst="rect">
            <a:avLst/>
          </a:prstGeom>
          <a:solidFill>
            <a:srgbClr val="E8EFF7"/>
          </a:solidFill>
          <a:ln w="12700">
            <a:solidFill>
              <a:srgbClr val="1B3A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700" rIns="12700" rtlCol="0" anchor="ctr"/>
          <a:lstStyle/>
          <a:p>
            <a:pPr algn="ctr">
              <a:defRPr sz="1000">
                <a:solidFill>
                  <a:srgbClr val="333333"/>
                </a:solidFill>
                <a:latin typeface="Calibri"/>
              </a:defRPr>
            </a:pPr>
            <a:r>
              <a:rPr dirty="0"/>
              <a:t>Ravi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057400" y="3337560"/>
            <a:ext cx="754380" cy="640080"/>
          </a:xfrm>
          <a:prstGeom prst="rect">
            <a:avLst/>
          </a:prstGeom>
          <a:solidFill>
            <a:srgbClr val="E8EFF7"/>
          </a:solidFill>
          <a:ln w="12700">
            <a:solidFill>
              <a:srgbClr val="1B3A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700" rIns="12700" rtlCol="0" anchor="ctr"/>
          <a:lstStyle/>
          <a:p>
            <a:pPr algn="ctr">
              <a:defRPr sz="1000">
                <a:solidFill>
                  <a:srgbClr val="333333"/>
                </a:solidFill>
                <a:latin typeface="Calibri"/>
              </a:defRPr>
            </a:pPr>
            <a:r>
              <a:t>85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811779" y="3337560"/>
            <a:ext cx="754380" cy="640080"/>
          </a:xfrm>
          <a:prstGeom prst="rect">
            <a:avLst/>
          </a:prstGeom>
          <a:solidFill>
            <a:srgbClr val="E8EFF7"/>
          </a:solidFill>
          <a:ln w="12700">
            <a:solidFill>
              <a:srgbClr val="1B3A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700" rIns="12700" rtlCol="0" anchor="ctr"/>
          <a:lstStyle/>
          <a:p>
            <a:pPr algn="ctr">
              <a:defRPr sz="1000">
                <a:solidFill>
                  <a:srgbClr val="333333"/>
                </a:solidFill>
                <a:latin typeface="Calibri"/>
              </a:defRPr>
            </a:pPr>
            <a:r>
              <a:t>Next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3566160" y="3657600"/>
            <a:ext cx="365760" cy="0"/>
          </a:xfrm>
          <a:prstGeom prst="line">
            <a:avLst/>
          </a:prstGeom>
          <a:ln w="19050">
            <a:solidFill>
              <a:srgbClr val="1B3A6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ectangle 17"/>
          <p:cNvSpPr/>
          <p:nvPr/>
        </p:nvSpPr>
        <p:spPr>
          <a:xfrm>
            <a:off x="3931920" y="3337560"/>
            <a:ext cx="754380" cy="640080"/>
          </a:xfrm>
          <a:prstGeom prst="rect">
            <a:avLst/>
          </a:prstGeom>
          <a:solidFill>
            <a:srgbClr val="E8EFF7"/>
          </a:solidFill>
          <a:ln w="12700">
            <a:solidFill>
              <a:srgbClr val="1B3A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700" rIns="12700" rtlCol="0" anchor="ctr"/>
          <a:lstStyle/>
          <a:p>
            <a:pPr algn="ctr">
              <a:defRPr sz="1000">
                <a:solidFill>
                  <a:srgbClr val="333333"/>
                </a:solidFill>
                <a:latin typeface="Calibri"/>
              </a:defRPr>
            </a:pPr>
            <a:r>
              <a:t>102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686300" y="3337560"/>
            <a:ext cx="754380" cy="640080"/>
          </a:xfrm>
          <a:prstGeom prst="rect">
            <a:avLst/>
          </a:prstGeom>
          <a:solidFill>
            <a:srgbClr val="E8EFF7"/>
          </a:solidFill>
          <a:ln w="12700">
            <a:solidFill>
              <a:srgbClr val="1B3A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700" rIns="12700" rtlCol="0" anchor="ctr"/>
          <a:lstStyle/>
          <a:p>
            <a:pPr algn="ctr">
              <a:defRPr sz="1000">
                <a:solidFill>
                  <a:srgbClr val="333333"/>
                </a:solidFill>
                <a:latin typeface="Calibri"/>
              </a:defRPr>
            </a:pPr>
            <a:r>
              <a:t>Rahul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440679" y="3337560"/>
            <a:ext cx="754380" cy="640080"/>
          </a:xfrm>
          <a:prstGeom prst="rect">
            <a:avLst/>
          </a:prstGeom>
          <a:solidFill>
            <a:srgbClr val="E8EFF7"/>
          </a:solidFill>
          <a:ln w="12700">
            <a:solidFill>
              <a:srgbClr val="1B3A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700" rIns="12700" rtlCol="0" anchor="ctr"/>
          <a:lstStyle/>
          <a:p>
            <a:pPr algn="ctr">
              <a:defRPr sz="1000">
                <a:solidFill>
                  <a:srgbClr val="333333"/>
                </a:solidFill>
                <a:latin typeface="Calibri"/>
              </a:defRPr>
            </a:pPr>
            <a:r>
              <a:t>91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195059" y="3337560"/>
            <a:ext cx="754380" cy="640080"/>
          </a:xfrm>
          <a:prstGeom prst="rect">
            <a:avLst/>
          </a:prstGeom>
          <a:solidFill>
            <a:srgbClr val="E8EFF7"/>
          </a:solidFill>
          <a:ln w="12700">
            <a:solidFill>
              <a:srgbClr val="1B3A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700" rIns="12700" rtlCol="0" anchor="ctr"/>
          <a:lstStyle/>
          <a:p>
            <a:pPr algn="ctr">
              <a:defRPr sz="1000">
                <a:solidFill>
                  <a:srgbClr val="333333"/>
                </a:solidFill>
                <a:latin typeface="Calibri"/>
              </a:defRPr>
            </a:pPr>
            <a:r>
              <a:t>Next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6949440" y="3657600"/>
            <a:ext cx="365760" cy="0"/>
          </a:xfrm>
          <a:prstGeom prst="line">
            <a:avLst/>
          </a:prstGeom>
          <a:ln w="19050">
            <a:solidFill>
              <a:srgbClr val="1B3A6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ectangle 22"/>
          <p:cNvSpPr/>
          <p:nvPr/>
        </p:nvSpPr>
        <p:spPr>
          <a:xfrm>
            <a:off x="7315200" y="3337560"/>
            <a:ext cx="754380" cy="640080"/>
          </a:xfrm>
          <a:prstGeom prst="rect">
            <a:avLst/>
          </a:prstGeom>
          <a:solidFill>
            <a:srgbClr val="E8EFF7"/>
          </a:solidFill>
          <a:ln w="12700">
            <a:solidFill>
              <a:srgbClr val="1B3A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700" rIns="12700" rtlCol="0" anchor="ctr"/>
          <a:lstStyle/>
          <a:p>
            <a:pPr algn="ctr">
              <a:defRPr sz="1000">
                <a:solidFill>
                  <a:srgbClr val="333333"/>
                </a:solidFill>
                <a:latin typeface="Calibri"/>
              </a:defRPr>
            </a:pPr>
            <a:r>
              <a:t>103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069579" y="3337560"/>
            <a:ext cx="754380" cy="640080"/>
          </a:xfrm>
          <a:prstGeom prst="rect">
            <a:avLst/>
          </a:prstGeom>
          <a:solidFill>
            <a:srgbClr val="E8EFF7"/>
          </a:solidFill>
          <a:ln w="12700">
            <a:solidFill>
              <a:srgbClr val="1B3A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700" rIns="12700" rtlCol="0" anchor="ctr"/>
          <a:lstStyle/>
          <a:p>
            <a:pPr algn="ctr">
              <a:defRPr sz="1000">
                <a:solidFill>
                  <a:srgbClr val="333333"/>
                </a:solidFill>
                <a:latin typeface="Calibri"/>
              </a:defRPr>
            </a:pPr>
            <a:r>
              <a:t>Anil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823960" y="3337560"/>
            <a:ext cx="754380" cy="640080"/>
          </a:xfrm>
          <a:prstGeom prst="rect">
            <a:avLst/>
          </a:prstGeom>
          <a:solidFill>
            <a:srgbClr val="E8EFF7"/>
          </a:solidFill>
          <a:ln w="12700">
            <a:solidFill>
              <a:srgbClr val="1B3A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700" rIns="12700" rtlCol="0" anchor="ctr"/>
          <a:lstStyle/>
          <a:p>
            <a:pPr algn="ctr">
              <a:defRPr sz="1000">
                <a:solidFill>
                  <a:srgbClr val="333333"/>
                </a:solidFill>
                <a:latin typeface="Calibri"/>
              </a:defRPr>
            </a:pPr>
            <a:r>
              <a:t>78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578340" y="3337560"/>
            <a:ext cx="754380" cy="640080"/>
          </a:xfrm>
          <a:prstGeom prst="rect">
            <a:avLst/>
          </a:prstGeom>
          <a:solidFill>
            <a:srgbClr val="E8EFF7"/>
          </a:solidFill>
          <a:ln w="12700">
            <a:solidFill>
              <a:srgbClr val="1B3A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700" rIns="12700" rtlCol="0" anchor="ctr"/>
          <a:lstStyle/>
          <a:p>
            <a:pPr algn="ctr">
              <a:defRPr sz="1000">
                <a:solidFill>
                  <a:srgbClr val="333333"/>
                </a:solidFill>
                <a:latin typeface="Calibri"/>
              </a:defRPr>
            </a:pPr>
            <a:r>
              <a:t>NULL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8640" y="4206240"/>
            <a:ext cx="11064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500" b="1" i="1">
                <a:solidFill>
                  <a:srgbClr val="1B3A6B"/>
                </a:solidFill>
                <a:latin typeface="Calibri"/>
              </a:defRPr>
            </a:pPr>
            <a:r>
              <a:t>"Each node stores student information and a pointer to the next node."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71600" y="4709160"/>
            <a:ext cx="94183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  <a:latin typeface="Calibri"/>
              </a:defRPr>
            </a:pPr>
            <a:r>
              <a:t>•  Structure stores student data.</a:t>
            </a:r>
          </a:p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  <a:latin typeface="Calibri"/>
              </a:defRPr>
            </a:pPr>
            <a:r>
              <a:t>•  Pointer connects one node to the next node.</a:t>
            </a:r>
          </a:p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  <a:latin typeface="Calibri"/>
              </a:defRPr>
            </a:pPr>
            <a:r>
              <a:t>•  NULL marks the end of the list.</a:t>
            </a:r>
          </a:p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  <a:latin typeface="Calibri"/>
              </a:defRPr>
            </a:pPr>
            <a:r>
              <a:t>•  Nodes are dynamically allocated as required.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7200" y="6510528"/>
            <a:ext cx="6400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09090"/>
                </a:solidFill>
                <a:latin typeface="Calibri"/>
              </a:defRPr>
            </a:pPr>
            <a:r>
              <a:t>Student Record Management System — DSA Project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247120" y="6510528"/>
            <a:ext cx="548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09090"/>
                </a:solidFill>
                <a:latin typeface="Calibri"/>
              </a:defRPr>
            </a:pPr>
            <a: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1B3A6B"/>
                </a:solidFill>
                <a:latin typeface="Calibri"/>
              </a:defRPr>
            </a:pPr>
            <a:r>
              <a:t>LINKED LIST OPERATIONS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78992"/>
            <a:ext cx="1920240" cy="31750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457200" y="1463040"/>
            <a:ext cx="2103120" cy="502920"/>
          </a:xfrm>
          <a:prstGeom prst="rect">
            <a:avLst/>
          </a:prstGeom>
          <a:solidFill>
            <a:srgbClr val="1B3A6B"/>
          </a:solidFill>
          <a:ln w="15875">
            <a:solidFill>
              <a:srgbClr val="1B3A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38100" rIns="50800" bIns="38100" rtlCol="0" anchor="ctr"/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rPr sz="2400" dirty="0"/>
              <a:t>ADD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057400"/>
            <a:ext cx="2103120" cy="2560320"/>
          </a:xfrm>
          <a:prstGeom prst="rect">
            <a:avLst/>
          </a:prstGeom>
          <a:solidFill>
            <a:srgbClr val="E8EFF7"/>
          </a:solidFill>
          <a:ln w="15875">
            <a:solidFill>
              <a:srgbClr val="1B3A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38100" rIns="50800" bIns="38100" rtlCol="0" anchor="ctr"/>
          <a:lstStyle/>
          <a:p>
            <a:pPr algn="ctr">
              <a:defRPr sz="1400" b="0">
                <a:solidFill>
                  <a:srgbClr val="333333"/>
                </a:solidFill>
                <a:latin typeface="Calibri"/>
              </a:defRPr>
            </a:pPr>
            <a:r>
              <a:rPr sz="2000" dirty="0"/>
              <a:t>Create a new node and insert the student record.</a:t>
            </a:r>
          </a:p>
        </p:txBody>
      </p:sp>
      <p:sp>
        <p:nvSpPr>
          <p:cNvPr id="7" name="Rectangle 6"/>
          <p:cNvSpPr/>
          <p:nvPr/>
        </p:nvSpPr>
        <p:spPr>
          <a:xfrm>
            <a:off x="2724912" y="1463040"/>
            <a:ext cx="2103120" cy="502920"/>
          </a:xfrm>
          <a:prstGeom prst="rect">
            <a:avLst/>
          </a:prstGeom>
          <a:solidFill>
            <a:srgbClr val="1B3A6B"/>
          </a:solidFill>
          <a:ln w="15875">
            <a:solidFill>
              <a:srgbClr val="1B3A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38100" rIns="50800" bIns="38100" rtlCol="0" anchor="ctr"/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rPr sz="2400" dirty="0"/>
              <a:t>DISPLAY</a:t>
            </a:r>
          </a:p>
        </p:txBody>
      </p:sp>
      <p:sp>
        <p:nvSpPr>
          <p:cNvPr id="8" name="Rectangle 7"/>
          <p:cNvSpPr/>
          <p:nvPr/>
        </p:nvSpPr>
        <p:spPr>
          <a:xfrm>
            <a:off x="2724912" y="2057400"/>
            <a:ext cx="2103120" cy="2560320"/>
          </a:xfrm>
          <a:prstGeom prst="rect">
            <a:avLst/>
          </a:prstGeom>
          <a:solidFill>
            <a:srgbClr val="E8EFF7"/>
          </a:solidFill>
          <a:ln w="15875">
            <a:solidFill>
              <a:srgbClr val="1B3A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38100" rIns="50800" bIns="38100" rtlCol="0" anchor="ctr"/>
          <a:lstStyle/>
          <a:p>
            <a:pPr algn="ctr">
              <a:defRPr sz="1400" b="0">
                <a:solidFill>
                  <a:srgbClr val="333333"/>
                </a:solidFill>
                <a:latin typeface="Calibri"/>
              </a:defRPr>
            </a:pPr>
            <a:r>
              <a:rPr sz="2000" dirty="0"/>
              <a:t>Traverse the list from HEAD to NULL.</a:t>
            </a:r>
          </a:p>
        </p:txBody>
      </p:sp>
      <p:sp>
        <p:nvSpPr>
          <p:cNvPr id="9" name="Rectangle 8"/>
          <p:cNvSpPr/>
          <p:nvPr/>
        </p:nvSpPr>
        <p:spPr>
          <a:xfrm>
            <a:off x="4992624" y="1463040"/>
            <a:ext cx="2103120" cy="502920"/>
          </a:xfrm>
          <a:prstGeom prst="rect">
            <a:avLst/>
          </a:prstGeom>
          <a:solidFill>
            <a:srgbClr val="1B3A6B"/>
          </a:solidFill>
          <a:ln w="15875">
            <a:solidFill>
              <a:srgbClr val="1B3A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38100" rIns="50800" bIns="38100" rtlCol="0" anchor="ctr"/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rPr sz="2400" dirty="0"/>
              <a:t>SEARCH</a:t>
            </a:r>
          </a:p>
        </p:txBody>
      </p:sp>
      <p:sp>
        <p:nvSpPr>
          <p:cNvPr id="10" name="Rectangle 9"/>
          <p:cNvSpPr/>
          <p:nvPr/>
        </p:nvSpPr>
        <p:spPr>
          <a:xfrm>
            <a:off x="4992624" y="2057400"/>
            <a:ext cx="2103120" cy="2560320"/>
          </a:xfrm>
          <a:prstGeom prst="rect">
            <a:avLst/>
          </a:prstGeom>
          <a:solidFill>
            <a:srgbClr val="E8EFF7"/>
          </a:solidFill>
          <a:ln w="15875">
            <a:solidFill>
              <a:srgbClr val="1B3A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38100" rIns="50800" bIns="38100" rtlCol="0" anchor="ctr"/>
          <a:lstStyle/>
          <a:p>
            <a:pPr algn="ctr">
              <a:defRPr sz="1400" b="0">
                <a:solidFill>
                  <a:srgbClr val="333333"/>
                </a:solidFill>
                <a:latin typeface="Calibri"/>
              </a:defRPr>
            </a:pPr>
            <a:r>
              <a:rPr sz="2000" dirty="0"/>
              <a:t>Traverse the list and compare Roll Number.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260336" y="1463040"/>
            <a:ext cx="2103120" cy="502920"/>
          </a:xfrm>
          <a:prstGeom prst="rect">
            <a:avLst/>
          </a:prstGeom>
          <a:solidFill>
            <a:srgbClr val="1B3A6B"/>
          </a:solidFill>
          <a:ln w="15875">
            <a:solidFill>
              <a:srgbClr val="1B3A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38100" rIns="50800" bIns="38100" rtlCol="0" anchor="ctr"/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rPr sz="2400" dirty="0"/>
              <a:t>UPDATE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260336" y="2057400"/>
            <a:ext cx="2103120" cy="2560320"/>
          </a:xfrm>
          <a:prstGeom prst="rect">
            <a:avLst/>
          </a:prstGeom>
          <a:solidFill>
            <a:srgbClr val="E8EFF7"/>
          </a:solidFill>
          <a:ln w="15875">
            <a:solidFill>
              <a:srgbClr val="1B3A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38100" rIns="50800" bIns="38100" rtlCol="0" anchor="ctr"/>
          <a:lstStyle/>
          <a:p>
            <a:pPr algn="ctr">
              <a:defRPr sz="1400" b="0">
                <a:solidFill>
                  <a:srgbClr val="333333"/>
                </a:solidFill>
                <a:latin typeface="Calibri"/>
              </a:defRPr>
            </a:pPr>
            <a:r>
              <a:rPr sz="2000" dirty="0"/>
              <a:t>Search for the Roll Number and modify the required information.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528048" y="1463040"/>
            <a:ext cx="2103120" cy="502920"/>
          </a:xfrm>
          <a:prstGeom prst="rect">
            <a:avLst/>
          </a:prstGeom>
          <a:solidFill>
            <a:srgbClr val="1B3A6B"/>
          </a:solidFill>
          <a:ln w="15875">
            <a:solidFill>
              <a:srgbClr val="1B3A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38100" rIns="50800" bIns="38100" rtlCol="0" anchor="ctr"/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rPr sz="2400" dirty="0"/>
              <a:t>DELETE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528048" y="2057400"/>
            <a:ext cx="2103120" cy="2560320"/>
          </a:xfrm>
          <a:prstGeom prst="rect">
            <a:avLst/>
          </a:prstGeom>
          <a:solidFill>
            <a:srgbClr val="E8EFF7"/>
          </a:solidFill>
          <a:ln w="15875">
            <a:solidFill>
              <a:srgbClr val="1B3A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38100" rIns="50800" bIns="38100" rtlCol="0" anchor="ctr"/>
          <a:lstStyle/>
          <a:p>
            <a:pPr algn="ctr">
              <a:defRPr sz="1400" b="0">
                <a:solidFill>
                  <a:srgbClr val="333333"/>
                </a:solidFill>
                <a:latin typeface="Calibri"/>
              </a:defRPr>
            </a:pPr>
            <a:r>
              <a:rPr sz="2000" dirty="0"/>
              <a:t>Find the required node and adjust the links to remove it.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6510528"/>
            <a:ext cx="6400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09090"/>
                </a:solidFill>
                <a:latin typeface="Calibri"/>
              </a:defRPr>
            </a:pPr>
            <a:r>
              <a:t>Student Record Management System — DSA Project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247120" y="6510528"/>
            <a:ext cx="548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09090"/>
                </a:solidFill>
                <a:latin typeface="Calibri"/>
              </a:defRPr>
            </a:pPr>
            <a: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1B3A6B"/>
                </a:solidFill>
                <a:latin typeface="Calibri"/>
              </a:defRPr>
            </a:pPr>
            <a:r>
              <a:t>PROGRAM WORKFLOW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78992"/>
            <a:ext cx="1920240" cy="31750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731520" y="1371600"/>
            <a:ext cx="3657600" cy="365760"/>
          </a:xfrm>
          <a:prstGeom prst="rect">
            <a:avLst/>
          </a:prstGeom>
          <a:solidFill>
            <a:srgbClr val="1B3A6B"/>
          </a:solidFill>
          <a:ln w="15875">
            <a:solidFill>
              <a:srgbClr val="1B3A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38100" rIns="50800" bIns="38100" rtlCol="0" anchor="ctr"/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START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2560320" y="1737360"/>
            <a:ext cx="0" cy="137159"/>
          </a:xfrm>
          <a:prstGeom prst="line">
            <a:avLst/>
          </a:prstGeom>
          <a:ln w="19050">
            <a:solidFill>
              <a:srgbClr val="1B3A6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ectangle 6"/>
          <p:cNvSpPr/>
          <p:nvPr/>
        </p:nvSpPr>
        <p:spPr>
          <a:xfrm>
            <a:off x="731520" y="1874519"/>
            <a:ext cx="3657600" cy="365760"/>
          </a:xfrm>
          <a:prstGeom prst="rect">
            <a:avLst/>
          </a:prstGeom>
          <a:solidFill>
            <a:srgbClr val="E8EFF7"/>
          </a:solidFill>
          <a:ln w="15875">
            <a:solidFill>
              <a:srgbClr val="1B3A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38100" rIns="50800" bIns="38100" rtlCol="0" anchor="ctr"/>
          <a:lstStyle/>
          <a:p>
            <a:pPr algn="ctr">
              <a:defRPr sz="1300" b="0">
                <a:solidFill>
                  <a:srgbClr val="333333"/>
                </a:solidFill>
                <a:latin typeface="Calibri"/>
              </a:defRPr>
            </a:pPr>
            <a:r>
              <a:t>Display Menu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560320" y="2240280"/>
            <a:ext cx="0" cy="137160"/>
          </a:xfrm>
          <a:prstGeom prst="line">
            <a:avLst/>
          </a:prstGeom>
          <a:ln w="19050">
            <a:solidFill>
              <a:srgbClr val="1B3A6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ctangle 8"/>
          <p:cNvSpPr/>
          <p:nvPr/>
        </p:nvSpPr>
        <p:spPr>
          <a:xfrm>
            <a:off x="731520" y="2377440"/>
            <a:ext cx="3657600" cy="365760"/>
          </a:xfrm>
          <a:prstGeom prst="rect">
            <a:avLst/>
          </a:prstGeom>
          <a:solidFill>
            <a:srgbClr val="E8EFF7"/>
          </a:solidFill>
          <a:ln w="15875">
            <a:solidFill>
              <a:srgbClr val="1B3A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38100" rIns="50800" bIns="38100" rtlCol="0" anchor="ctr"/>
          <a:lstStyle/>
          <a:p>
            <a:pPr algn="ctr">
              <a:defRPr sz="1300" b="0">
                <a:solidFill>
                  <a:srgbClr val="333333"/>
                </a:solidFill>
                <a:latin typeface="Calibri"/>
              </a:defRPr>
            </a:pPr>
            <a:r>
              <a:t>Choose Operation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2560320" y="2743200"/>
            <a:ext cx="0" cy="137160"/>
          </a:xfrm>
          <a:prstGeom prst="line">
            <a:avLst/>
          </a:prstGeom>
          <a:ln w="19050">
            <a:solidFill>
              <a:srgbClr val="1B3A6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ectangle 10"/>
          <p:cNvSpPr/>
          <p:nvPr/>
        </p:nvSpPr>
        <p:spPr>
          <a:xfrm>
            <a:off x="731520" y="2880360"/>
            <a:ext cx="3657600" cy="1554480"/>
          </a:xfrm>
          <a:prstGeom prst="rect">
            <a:avLst/>
          </a:prstGeom>
          <a:solidFill>
            <a:srgbClr val="FFFFFF"/>
          </a:solidFill>
          <a:ln w="15875">
            <a:solidFill>
              <a:srgbClr val="1B3A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38100" rIns="50800" bIns="38100" rtlCol="0" anchor="ctr"/>
          <a:lstStyle/>
          <a:p>
            <a:pPr algn="l">
              <a:defRPr sz="1300" b="0">
                <a:solidFill>
                  <a:srgbClr val="333333"/>
                </a:solidFill>
                <a:latin typeface="Calibri"/>
              </a:defRPr>
            </a:pPr>
            <a:r>
              <a:t>1. Add Student</a:t>
            </a:r>
          </a:p>
          <a:p>
            <a:pPr algn="l">
              <a:defRPr sz="1300" b="0">
                <a:solidFill>
                  <a:srgbClr val="333333"/>
                </a:solidFill>
                <a:latin typeface="Calibri"/>
              </a:defRPr>
            </a:pPr>
            <a:r>
              <a:t>2. Display Records</a:t>
            </a:r>
          </a:p>
          <a:p>
            <a:pPr algn="l">
              <a:defRPr sz="1300" b="0">
                <a:solidFill>
                  <a:srgbClr val="333333"/>
                </a:solidFill>
                <a:latin typeface="Calibri"/>
              </a:defRPr>
            </a:pPr>
            <a:r>
              <a:t>3. Search Student</a:t>
            </a:r>
          </a:p>
          <a:p>
            <a:pPr algn="l">
              <a:defRPr sz="1300" b="0">
                <a:solidFill>
                  <a:srgbClr val="333333"/>
                </a:solidFill>
                <a:latin typeface="Calibri"/>
              </a:defRPr>
            </a:pPr>
            <a:r>
              <a:t>4. Update Student</a:t>
            </a:r>
          </a:p>
          <a:p>
            <a:pPr algn="l">
              <a:defRPr sz="1300" b="0">
                <a:solidFill>
                  <a:srgbClr val="333333"/>
                </a:solidFill>
                <a:latin typeface="Calibri"/>
              </a:defRPr>
            </a:pPr>
            <a:r>
              <a:t>5. Delete Student</a:t>
            </a:r>
          </a:p>
          <a:p>
            <a:pPr algn="l">
              <a:defRPr sz="1300" b="0">
                <a:solidFill>
                  <a:srgbClr val="333333"/>
                </a:solidFill>
                <a:latin typeface="Calibri"/>
              </a:defRPr>
            </a:pPr>
            <a:r>
              <a:t>6. Exit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560320" y="4434840"/>
            <a:ext cx="0" cy="137160"/>
          </a:xfrm>
          <a:prstGeom prst="line">
            <a:avLst/>
          </a:prstGeom>
          <a:ln w="19050">
            <a:solidFill>
              <a:srgbClr val="1B3A6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ectangle 12"/>
          <p:cNvSpPr/>
          <p:nvPr/>
        </p:nvSpPr>
        <p:spPr>
          <a:xfrm>
            <a:off x="731520" y="4572000"/>
            <a:ext cx="3657600" cy="365760"/>
          </a:xfrm>
          <a:prstGeom prst="rect">
            <a:avLst/>
          </a:prstGeom>
          <a:solidFill>
            <a:srgbClr val="E8EFF7"/>
          </a:solidFill>
          <a:ln w="15875">
            <a:solidFill>
              <a:srgbClr val="1B3A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38100" rIns="50800" bIns="38100" rtlCol="0" anchor="ctr"/>
          <a:lstStyle/>
          <a:p>
            <a:pPr algn="ctr">
              <a:defRPr sz="1200" b="0">
                <a:solidFill>
                  <a:srgbClr val="333333"/>
                </a:solidFill>
                <a:latin typeface="Calibri"/>
              </a:defRPr>
            </a:pPr>
            <a:r>
              <a:t>Perform Selected Operation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2560320" y="4937760"/>
            <a:ext cx="0" cy="137160"/>
          </a:xfrm>
          <a:prstGeom prst="line">
            <a:avLst/>
          </a:prstGeom>
          <a:ln w="19050">
            <a:solidFill>
              <a:srgbClr val="1B3A6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ectangle 14"/>
          <p:cNvSpPr/>
          <p:nvPr/>
        </p:nvSpPr>
        <p:spPr>
          <a:xfrm>
            <a:off x="731520" y="5074920"/>
            <a:ext cx="3657600" cy="365760"/>
          </a:xfrm>
          <a:prstGeom prst="rect">
            <a:avLst/>
          </a:prstGeom>
          <a:solidFill>
            <a:srgbClr val="E8EFF7"/>
          </a:solidFill>
          <a:ln w="15875">
            <a:solidFill>
              <a:srgbClr val="1B3A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38100" rIns="50800" bIns="38100" rtlCol="0" anchor="ctr"/>
          <a:lstStyle/>
          <a:p>
            <a:pPr algn="ctr">
              <a:defRPr sz="1300" b="0">
                <a:solidFill>
                  <a:srgbClr val="333333"/>
                </a:solidFill>
                <a:latin typeface="Calibri"/>
              </a:defRPr>
            </a:pPr>
            <a:r>
              <a:t>Return to Menu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2560320" y="5440680"/>
            <a:ext cx="0" cy="137160"/>
          </a:xfrm>
          <a:prstGeom prst="line">
            <a:avLst/>
          </a:prstGeom>
          <a:ln w="19050">
            <a:solidFill>
              <a:srgbClr val="1B3A6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ectangle 16"/>
          <p:cNvSpPr/>
          <p:nvPr/>
        </p:nvSpPr>
        <p:spPr>
          <a:xfrm>
            <a:off x="731520" y="5577840"/>
            <a:ext cx="3657600" cy="365760"/>
          </a:xfrm>
          <a:prstGeom prst="rect">
            <a:avLst/>
          </a:prstGeom>
          <a:solidFill>
            <a:srgbClr val="1B3A6B"/>
          </a:solidFill>
          <a:ln w="15875">
            <a:solidFill>
              <a:srgbClr val="1B3A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38100" rIns="50800" bIns="38100" rtlCol="0" anchor="ctr"/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rPr lang="en-IN" dirty="0"/>
              <a:t>STOP</a:t>
            </a:r>
            <a:endParaRPr dirty="0"/>
          </a:p>
        </p:txBody>
      </p:sp>
      <p:sp>
        <p:nvSpPr>
          <p:cNvPr id="20" name="TextBox 19"/>
          <p:cNvSpPr txBox="1"/>
          <p:nvPr/>
        </p:nvSpPr>
        <p:spPr>
          <a:xfrm>
            <a:off x="457200" y="6510528"/>
            <a:ext cx="6400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09090"/>
                </a:solidFill>
                <a:latin typeface="Calibri"/>
              </a:defRPr>
            </a:pPr>
            <a:r>
              <a:rPr dirty="0"/>
              <a:t>Student Record Management System — DSA Project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247120" y="6510528"/>
            <a:ext cx="548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09090"/>
                </a:solidFill>
                <a:latin typeface="Calibri"/>
              </a:defRPr>
            </a:pPr>
            <a:r>
              <a:t>7</a:t>
            </a:r>
          </a:p>
        </p:txBody>
      </p:sp>
      <p:pic>
        <p:nvPicPr>
          <p:cNvPr id="23" name="Picture 22" descr="The image depicts a simple menu interface for a student record management system, offering options to add, display, search, update, and delete student records, with a prompt to select an action.&#10;&#10;AI-generated content may be incorrect.">
            <a:extLst>
              <a:ext uri="{FF2B5EF4-FFF2-40B4-BE49-F238E27FC236}">
                <a16:creationId xmlns:a16="http://schemas.microsoft.com/office/drawing/2014/main" id="{9B7BFEE1-AB68-7273-342E-FA277B7B484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34182" y="899531"/>
            <a:ext cx="3093156" cy="2025142"/>
          </a:xfrm>
          <a:prstGeom prst="rect">
            <a:avLst/>
          </a:prstGeom>
        </p:spPr>
      </p:pic>
      <p:pic>
        <p:nvPicPr>
          <p:cNvPr id="25" name="Picture 24" descr="A user interface displaying a form for adding a student's details, including their roll number, name, and marks, with a success message.&#10;&#10;AI-generated content may be incorrect.">
            <a:extLst>
              <a:ext uri="{FF2B5EF4-FFF2-40B4-BE49-F238E27FC236}">
                <a16:creationId xmlns:a16="http://schemas.microsoft.com/office/drawing/2014/main" id="{734104C5-13C3-828B-1691-24D198AE05B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49268" y="2970049"/>
            <a:ext cx="2834605" cy="1556575"/>
          </a:xfrm>
          <a:prstGeom prst="rect">
            <a:avLst/>
          </a:prstGeom>
        </p:spPr>
      </p:pic>
      <p:pic>
        <p:nvPicPr>
          <p:cNvPr id="27" name="Picture 26" descr="The image displays a table listing student records, with columns for roll number, name, and marks, and it prompts the user to enter a choice, specifically option 2.&#10;&#10;AI-generated content may be incorrect.">
            <a:extLst>
              <a:ext uri="{FF2B5EF4-FFF2-40B4-BE49-F238E27FC236}">
                <a16:creationId xmlns:a16="http://schemas.microsoft.com/office/drawing/2014/main" id="{F938BC91-F85C-5E2A-566C-29E3EF451F2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49268" y="4572000"/>
            <a:ext cx="3093157" cy="1978027"/>
          </a:xfrm>
          <a:prstGeom prst="rect">
            <a:avLst/>
          </a:prstGeom>
        </p:spPr>
      </p:pic>
      <p:pic>
        <p:nvPicPr>
          <p:cNvPr id="29" name="Picture 28" descr="The image shows a student search form on a screen, where a user is prompted to choose a number (3), search for a student, input a roll number (44), and display the found student's information, including their name (Rayudu) and marks (49.00).&#10;&#10;AI-generated content may be incorrect.">
            <a:extLst>
              <a:ext uri="{FF2B5EF4-FFF2-40B4-BE49-F238E27FC236}">
                <a16:creationId xmlns:a16="http://schemas.microsoft.com/office/drawing/2014/main" id="{AE079E17-1643-4153-4194-1E0175B5A4A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72400" y="987486"/>
            <a:ext cx="3010161" cy="1889924"/>
          </a:xfrm>
          <a:prstGeom prst="rect">
            <a:avLst/>
          </a:prstGeom>
        </p:spPr>
      </p:pic>
      <p:pic>
        <p:nvPicPr>
          <p:cNvPr id="31" name="Picture 30" descr="A screen prompting the user to delete student record number 51.&#10;&#10;AI-generated content may be incorrect.">
            <a:extLst>
              <a:ext uri="{FF2B5EF4-FFF2-40B4-BE49-F238E27FC236}">
                <a16:creationId xmlns:a16="http://schemas.microsoft.com/office/drawing/2014/main" id="{CE109D4D-5B18-DC51-CCD1-64B79857558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43733" y="5349141"/>
            <a:ext cx="3254022" cy="1143099"/>
          </a:xfrm>
          <a:prstGeom prst="rect">
            <a:avLst/>
          </a:prstGeom>
        </p:spPr>
      </p:pic>
      <p:pic>
        <p:nvPicPr>
          <p:cNvPr id="33" name="Picture 32" descr="The image is a computer screen interface prompting the user to select option 3, search for a student with roll number 41, which resulted in a message indicating the student was not found.&#10;&#10;AI-generated content may be incorrect.">
            <a:extLst>
              <a:ext uri="{FF2B5EF4-FFF2-40B4-BE49-F238E27FC236}">
                <a16:creationId xmlns:a16="http://schemas.microsoft.com/office/drawing/2014/main" id="{38D965EE-8F6B-854E-25F5-1722B3D31A36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743886" y="3287039"/>
            <a:ext cx="2682472" cy="115834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1B3A6B"/>
                </a:solidFill>
                <a:latin typeface="Calibri"/>
              </a:defRPr>
            </a:pPr>
            <a:r>
              <a:t>CONCLUSION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78992"/>
            <a:ext cx="1920240" cy="31750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40080" y="1463040"/>
            <a:ext cx="108813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  <a:defRPr sz="1800" b="0" i="0">
                <a:solidFill>
                  <a:srgbClr val="333333"/>
                </a:solidFill>
                <a:latin typeface="Calibri"/>
              </a:defRPr>
            </a:pPr>
            <a:r>
              <a:rPr dirty="0"/>
              <a:t>The Student Record Management System provides a simple way to store, manage, search, update, and delete student records.</a:t>
            </a:r>
          </a:p>
          <a:p>
            <a:pPr algn="l">
              <a:spcAft>
                <a:spcPts val="1200"/>
              </a:spcAft>
              <a:defRPr sz="1800" b="0" i="0">
                <a:solidFill>
                  <a:srgbClr val="333333"/>
                </a:solidFill>
                <a:latin typeface="Calibri"/>
              </a:defRPr>
            </a:pPr>
            <a:endParaRPr dirty="0"/>
          </a:p>
          <a:p>
            <a:pPr algn="l">
              <a:spcAft>
                <a:spcPts val="1200"/>
              </a:spcAft>
              <a:defRPr sz="1800" b="0" i="0">
                <a:solidFill>
                  <a:srgbClr val="333333"/>
                </a:solidFill>
                <a:latin typeface="Calibri"/>
              </a:defRPr>
            </a:pPr>
            <a:r>
              <a:rPr dirty="0"/>
              <a:t>By implementing the system using a singly linked list in C, the project demonstrates structures, pointers, dynamic memory allocation, insertion, deletion, searching, and traversal.</a:t>
            </a:r>
          </a:p>
          <a:p>
            <a:pPr algn="l">
              <a:spcAft>
                <a:spcPts val="1200"/>
              </a:spcAft>
              <a:defRPr sz="1800" b="0" i="0">
                <a:solidFill>
                  <a:srgbClr val="333333"/>
                </a:solidFill>
                <a:latin typeface="Calibri"/>
              </a:defRPr>
            </a:pPr>
            <a:endParaRPr dirty="0"/>
          </a:p>
          <a:p>
            <a:pPr algn="l">
              <a:spcAft>
                <a:spcPts val="1200"/>
              </a:spcAft>
              <a:defRPr sz="1800" b="0" i="0">
                <a:solidFill>
                  <a:srgbClr val="333333"/>
                </a:solidFill>
                <a:latin typeface="Calibri"/>
              </a:defRPr>
            </a:pPr>
            <a:r>
              <a:rPr dirty="0"/>
              <a:t>The linked-list approach allows student records to be added or removed dynamically without relying on a fixed-size data structure.</a:t>
            </a:r>
          </a:p>
          <a:p>
            <a:pPr algn="l">
              <a:spcAft>
                <a:spcPts val="1200"/>
              </a:spcAft>
              <a:defRPr sz="1800" b="0" i="0">
                <a:solidFill>
                  <a:srgbClr val="333333"/>
                </a:solidFill>
                <a:latin typeface="Calibri"/>
              </a:defRPr>
            </a:pPr>
            <a:endParaRPr dirty="0"/>
          </a:p>
          <a:p>
            <a:pPr algn="l">
              <a:spcAft>
                <a:spcPts val="1200"/>
              </a:spcAft>
              <a:defRPr sz="1800" b="0" i="0">
                <a:solidFill>
                  <a:srgbClr val="333333"/>
                </a:solidFill>
                <a:latin typeface="Calibri"/>
              </a:defRPr>
            </a:pPr>
            <a:r>
              <a:rPr dirty="0"/>
              <a:t>The project provides a foundation for developing more advanced student management systems in the future.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510528"/>
            <a:ext cx="6400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09090"/>
                </a:solidFill>
                <a:latin typeface="Calibri"/>
              </a:defRPr>
            </a:pPr>
            <a:r>
              <a:t>Student Record Management System — DSA Project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47120" y="6510528"/>
            <a:ext cx="548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09090"/>
                </a:solidFill>
                <a:latin typeface="Calibri"/>
              </a:defRPr>
            </a:pPr>
            <a: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2743200"/>
            <a:ext cx="10360152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4400" b="1" i="0">
                <a:solidFill>
                  <a:srgbClr val="1B3A6B"/>
                </a:solidFill>
                <a:latin typeface="Calibri"/>
              </a:defRPr>
            </a:pPr>
            <a:r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31</TotalTime>
  <Words>670</Words>
  <Application>Microsoft Office PowerPoint</Application>
  <PresentationFormat>Widescreen</PresentationFormat>
  <Paragraphs>122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4" baseType="lpstr">
      <vt:lpstr>Aptos</vt:lpstr>
      <vt:lpstr>Arial</vt:lpstr>
      <vt:lpstr>Calibri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bhavansirasapalli64@outlook.com</cp:lastModifiedBy>
  <cp:revision>4</cp:revision>
  <dcterms:created xsi:type="dcterms:W3CDTF">2013-01-27T09:14:16Z</dcterms:created>
  <dcterms:modified xsi:type="dcterms:W3CDTF">2026-10-06T18:19:25Z</dcterms:modified>
  <cp:category/>
</cp:coreProperties>
</file>